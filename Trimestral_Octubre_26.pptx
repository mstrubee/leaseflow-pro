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5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89900F-646F-41FC-A5B6-E52E711F1EC5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EB8B8-C14D-41DE-9659-E2F0370AE1D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969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779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35C14-7FF3-CF81-6830-62A8AAA4A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BFECA1-65F6-479C-DDD3-820FB3EF1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889B09-7747-D836-CA68-8A131C73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04A085-B4DF-9E90-6CED-76279BCF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E8F2FB-1D14-4B3A-F001-6CD03D9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885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BB314-8BAB-17FB-63DC-F05F73F1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15D987-A1CA-EA3D-9D2A-EBDB71C02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B15557-4B07-7226-FCA3-155ECDC3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E2046F-81CE-6C85-AD30-7B23AC75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11018C-D815-2863-0232-3C5455AB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607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B4848-1AE8-DEE5-F61E-33BF111D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B58C2C-DB95-D928-83E8-1B1B176B3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B1D050-E143-4117-FF55-5758696F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CDF23E-247B-D0FE-6AAF-0ADEFE9F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2AA66C-6817-B77C-A0D5-0F837946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1406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643E5-42BC-DD33-812D-1A51FC93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21A1B4-80C7-977C-D263-6260D7C6E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AC2A5C-5BF6-2331-100B-C44AA4DD0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40FC49-BEA7-69A7-7FEF-92502748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1DA41B-2429-5DF5-DEA8-04D0AFB2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894C26-F93A-A6DB-9F9C-5C3A4D5B9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820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295C4-7273-B8C4-1608-A75BD9F0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DB0AAF-4306-F51B-4C1A-64CAB2EA4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ECEDBF-0737-9EE6-8477-CE884CE8D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7A62E2-889E-94D0-075D-1819295CD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656850-7D97-D1C7-8B45-A74E7589C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D5808A-3036-5A21-F679-521A1936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C2455CB-7756-CBEF-6FB4-D60ABE5B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B170D3C-AD3E-DE21-2321-E27E9467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09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73F2C-C37E-38BF-D2A3-BF9B9178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65A70C-8975-BEE0-7AF0-441C5308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3274B2-49F0-9A39-9DC7-77909BC7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C63E67C-2C76-7452-CA6D-D0D07E4D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971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D271008-4FBD-FB2A-4B94-1DC2216D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9D15C8-38E1-B14E-8B52-BC613C99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1101F8-E858-44C5-05EE-ADD5FE9A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815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237A9-02E0-F141-EB06-DBA310E9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1F3179-D799-AFD6-072E-F5BCAAE73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36852D-30E8-21DD-5539-E718DBCC6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20A8B7-4EC4-A532-0FA7-BBA79DAD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A92F45-AF83-7AE7-3966-487C62D2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EF78C3-6F9C-B92A-E63B-62205B057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7312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FD7DE-3AB2-7C9A-43C7-AECD7834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88D3C4-FC56-442A-6CEE-205C03092CF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B84EE3-5B71-9277-2856-DE9537218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471B22-3D21-5B8B-FD0D-195FA70F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396994-F8AD-0DA0-BD99-C7812B7C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31A989-7123-9BB1-C6F4-7ECB9E12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447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D5A3F-573D-C052-F627-66224520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71E1D2-E479-B977-8DFC-F27903FBA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7E5717-F1AF-A435-82B6-35B5E8DA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AC13F8-9CAD-042B-E1DC-FC218AE9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9936C2-C485-7420-B7F1-C0EE69AA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875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D7A73A-B989-8EB9-B547-94F95D1A0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330FE8-9CA3-9BDF-5EF4-14ABED8F2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D5479D-26E7-EECE-582F-191F0991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53BE57-E09F-F024-B4CC-7A0DC4BC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6C0C42-0548-4CC7-046F-C2A07EBE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8502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0062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98FE08E-F4F9-2653-1FE9-248C0388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AED314-054D-2F26-9C70-0CAC72A9D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A3B813-D6CD-6573-7B5F-E2D67C238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E1F7D-872B-4ED6-BDC7-E4991E1CE952}" type="datetimeFigureOut">
              <a:rPr lang="es-CL" smtClean="0"/>
              <a:t>07-10-2026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D66A3-C922-7674-5A5E-78618FBB0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57ED5F-298D-1A1D-FE34-8EA5782BF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5371B-F91D-4E8F-9865-ED0C98FC13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51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tón de acción: Volver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480540F-0C43-DE7A-1F11-A70B2B572943}"/>
              </a:ext>
            </a:extLst>
          </p:cNvPr>
          <p:cNvSpPr/>
          <p:nvPr/>
        </p:nvSpPr>
        <p:spPr>
          <a:xfrm rot="16200000">
            <a:off x="11566212" y="192024"/>
            <a:ext cx="448056" cy="345576"/>
          </a:xfrm>
          <a:prstGeom prst="actionButtonReturn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381148F-336B-C775-53C1-0E33886AA12C}"/>
              </a:ext>
            </a:extLst>
          </p:cNvPr>
          <p:cNvSpPr/>
          <p:nvPr/>
        </p:nvSpPr>
        <p:spPr>
          <a:xfrm>
            <a:off x="609600" y="26822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C00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867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AD486C5A-4402-DC5F-8CE7-72FF11C0FDE9}"/>
              </a:ext>
            </a:extLst>
          </p:cNvPr>
          <p:cNvSpPr/>
          <p:nvPr/>
        </p:nvSpPr>
        <p:spPr>
          <a:xfrm>
            <a:off x="609600" y="633984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– Cambios – Renovaciones – Patentes  |  2026 / 2027</a:t>
            </a:r>
            <a:r>
              <a:rPr lang="en-US" sz="213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133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13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133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13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133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13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133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DBFB435-66D1-DE69-8658-69E1D8228AA4}"/>
              </a:ext>
            </a:extLst>
          </p:cNvPr>
          <p:cNvSpPr/>
          <p:nvPr/>
        </p:nvSpPr>
        <p:spPr>
          <a:xfrm>
            <a:off x="609600" y="1219200"/>
            <a:ext cx="10972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6E0AAE4-5A28-9E81-67A8-93F275A14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743016">
            <a:off x="5106464" y="-708747"/>
            <a:ext cx="2316517" cy="1187058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FAB08F3-B763-A00C-57BF-345191836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82" y="5049760"/>
            <a:ext cx="365621" cy="35356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43BD1EF-E14A-3353-5FAE-BC0549448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266" y="5823952"/>
            <a:ext cx="365621" cy="35356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E8796A6-8C46-E225-347B-77DD621289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922" y="5906248"/>
            <a:ext cx="365621" cy="35356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9C9967CF-5B70-902A-94D3-D0A89C133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842" y="6000736"/>
            <a:ext cx="365621" cy="35356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1808971C-D96F-27DB-7C03-6AFAEC163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235" y="6000736"/>
            <a:ext cx="365621" cy="353568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4DCB3628-8479-8790-307B-B0DBF0669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623" y="4779046"/>
            <a:ext cx="365621" cy="353568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5A38834D-B503-F62A-D7FA-123197D9B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301" y="5906248"/>
            <a:ext cx="365621" cy="353568"/>
          </a:xfrm>
          <a:prstGeom prst="rect">
            <a:avLst/>
          </a:prstGeom>
        </p:spPr>
      </p:pic>
      <p:sp>
        <p:nvSpPr>
          <p:cNvPr id="43" name="CuadroTexto 42">
            <a:extLst>
              <a:ext uri="{FF2B5EF4-FFF2-40B4-BE49-F238E27FC236}">
                <a16:creationId xmlns:a16="http://schemas.microsoft.com/office/drawing/2014/main" id="{8AB79553-94A9-99FD-AD84-FAED89705383}"/>
              </a:ext>
            </a:extLst>
          </p:cNvPr>
          <p:cNvSpPr txBox="1"/>
          <p:nvPr/>
        </p:nvSpPr>
        <p:spPr>
          <a:xfrm>
            <a:off x="413202" y="4803539"/>
            <a:ext cx="5257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Arica</a:t>
            </a:r>
            <a:endParaRPr lang="es-CL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CCDE6E3-E695-4ECC-EAB3-F1E67A71C5AC}"/>
              </a:ext>
            </a:extLst>
          </p:cNvPr>
          <p:cNvSpPr txBox="1"/>
          <p:nvPr/>
        </p:nvSpPr>
        <p:spPr>
          <a:xfrm>
            <a:off x="1603163" y="6177520"/>
            <a:ext cx="937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Antofagasta</a:t>
            </a:r>
            <a:endParaRPr lang="es-CL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3C55C24-C87C-66B5-4C05-4E8366355CBB}"/>
              </a:ext>
            </a:extLst>
          </p:cNvPr>
          <p:cNvSpPr txBox="1"/>
          <p:nvPr/>
        </p:nvSpPr>
        <p:spPr>
          <a:xfrm>
            <a:off x="5735789" y="6347386"/>
            <a:ext cx="761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Sn Pedro</a:t>
            </a:r>
          </a:p>
          <a:p>
            <a:pPr algn="ctr"/>
            <a:r>
              <a:rPr lang="en-US" sz="1000" b="1" dirty="0">
                <a:latin typeface="Arial" pitchFamily="34" charset="0"/>
                <a:cs typeface="Arial" pitchFamily="34" charset="-120"/>
              </a:rPr>
              <a:t>De la Paz</a:t>
            </a:r>
            <a:endParaRPr lang="es-CL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EB6704C-8F8A-8AC7-6917-5F42C1DE24A1}"/>
              </a:ext>
            </a:extLst>
          </p:cNvPr>
          <p:cNvSpPr txBox="1"/>
          <p:nvPr/>
        </p:nvSpPr>
        <p:spPr>
          <a:xfrm>
            <a:off x="4861957" y="6223686"/>
            <a:ext cx="761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MP </a:t>
            </a:r>
            <a:r>
              <a:rPr lang="en-US" sz="10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Trebol</a:t>
            </a:r>
            <a:endParaRPr lang="es-CL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FCEEEAE-B557-3295-51C1-9F3DC0ACE2D1}"/>
              </a:ext>
            </a:extLst>
          </p:cNvPr>
          <p:cNvSpPr txBox="1"/>
          <p:nvPr/>
        </p:nvSpPr>
        <p:spPr>
          <a:xfrm>
            <a:off x="5199685" y="4557318"/>
            <a:ext cx="675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Chillan</a:t>
            </a:r>
            <a:endParaRPr lang="es-CL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7BBB7E4-FE6A-ADC9-C54F-B98430BFD292}"/>
              </a:ext>
            </a:extLst>
          </p:cNvPr>
          <p:cNvSpPr txBox="1"/>
          <p:nvPr/>
        </p:nvSpPr>
        <p:spPr>
          <a:xfrm>
            <a:off x="7149942" y="6249295"/>
            <a:ext cx="675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Castro</a:t>
            </a:r>
            <a:endParaRPr lang="es-CL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45F423F-04ED-842F-3BE6-267672915685}"/>
              </a:ext>
            </a:extLst>
          </p:cNvPr>
          <p:cNvSpPr txBox="1"/>
          <p:nvPr/>
        </p:nvSpPr>
        <p:spPr>
          <a:xfrm>
            <a:off x="6617144" y="6244182"/>
            <a:ext cx="675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Alerce</a:t>
            </a:r>
            <a:endParaRPr lang="es-CL" dirty="0"/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0025EC76-27C0-AE6A-AD1E-DFBDAF756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838" y="4779046"/>
            <a:ext cx="365621" cy="353568"/>
          </a:xfrm>
          <a:prstGeom prst="rect">
            <a:avLst/>
          </a:prstGeom>
        </p:spPr>
      </p:pic>
      <p:sp>
        <p:nvSpPr>
          <p:cNvPr id="59" name="CuadroTexto 58">
            <a:extLst>
              <a:ext uri="{FF2B5EF4-FFF2-40B4-BE49-F238E27FC236}">
                <a16:creationId xmlns:a16="http://schemas.microsoft.com/office/drawing/2014/main" id="{189A3F00-6726-1DAF-38E5-84E6BE2FAF19}"/>
              </a:ext>
            </a:extLst>
          </p:cNvPr>
          <p:cNvSpPr txBox="1"/>
          <p:nvPr/>
        </p:nvSpPr>
        <p:spPr>
          <a:xfrm>
            <a:off x="4314008" y="4557318"/>
            <a:ext cx="7618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Fontova</a:t>
            </a:r>
            <a:endParaRPr lang="es-CL" dirty="0"/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CF8A5178-223C-27C2-65D8-23A400F4E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002" y="5663075"/>
            <a:ext cx="365621" cy="353568"/>
          </a:xfrm>
          <a:prstGeom prst="rect">
            <a:avLst/>
          </a:prstGeom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ACD34D7E-0734-8CE5-C68B-6CD867414D41}"/>
              </a:ext>
            </a:extLst>
          </p:cNvPr>
          <p:cNvSpPr txBox="1"/>
          <p:nvPr/>
        </p:nvSpPr>
        <p:spPr>
          <a:xfrm>
            <a:off x="3636815" y="5945906"/>
            <a:ext cx="937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Casablanca</a:t>
            </a:r>
            <a:endParaRPr lang="es-CL" dirty="0"/>
          </a:p>
        </p:txBody>
      </p:sp>
      <p:pic>
        <p:nvPicPr>
          <p:cNvPr id="65" name="Imagen 64">
            <a:extLst>
              <a:ext uri="{FF2B5EF4-FFF2-40B4-BE49-F238E27FC236}">
                <a16:creationId xmlns:a16="http://schemas.microsoft.com/office/drawing/2014/main" id="{9C54C278-904B-02A0-F212-1CCC6A9F0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052" y="5848227"/>
            <a:ext cx="365621" cy="353568"/>
          </a:xfrm>
          <a:prstGeom prst="rect">
            <a:avLst/>
          </a:prstGeom>
        </p:spPr>
      </p:pic>
      <p:sp>
        <p:nvSpPr>
          <p:cNvPr id="67" name="CuadroTexto 66">
            <a:extLst>
              <a:ext uri="{FF2B5EF4-FFF2-40B4-BE49-F238E27FC236}">
                <a16:creationId xmlns:a16="http://schemas.microsoft.com/office/drawing/2014/main" id="{4C1EA999-AD92-7EB8-51D2-602F517B4F82}"/>
              </a:ext>
            </a:extLst>
          </p:cNvPr>
          <p:cNvSpPr txBox="1"/>
          <p:nvPr/>
        </p:nvSpPr>
        <p:spPr>
          <a:xfrm>
            <a:off x="4189814" y="6177302"/>
            <a:ext cx="8417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Rancagua</a:t>
            </a:r>
            <a:endParaRPr lang="es-CL" dirty="0"/>
          </a:p>
        </p:txBody>
      </p:sp>
      <p:sp>
        <p:nvSpPr>
          <p:cNvPr id="68" name="Card Expansión 2026"/>
          <p:cNvSpPr/>
          <p:nvPr/>
        </p:nvSpPr>
        <p:spPr>
          <a:xfrm>
            <a:off x="612648" y="1417320"/>
            <a:ext cx="1664208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Header Expansión 2026"/>
          <p:cNvSpPr/>
          <p:nvPr/>
        </p:nvSpPr>
        <p:spPr>
          <a:xfrm>
            <a:off x="612648" y="1417320"/>
            <a:ext cx="1664208" cy="329184"/>
          </a:xfrm>
          <a:prstGeom prst="rect">
            <a:avLst/>
          </a:prstGeom>
          <a:solidFill>
            <a:srgbClr val="C00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Expansión 2026</a:t>
            </a:r>
          </a:p>
        </p:txBody>
      </p:sp>
      <p:sp>
        <p:nvSpPr>
          <p:cNvPr id="70" name="Items Expansión 2026 1"/>
          <p:cNvSpPr txBox="1"/>
          <p:nvPr/>
        </p:nvSpPr>
        <p:spPr>
          <a:xfrm>
            <a:off x="612648" y="1801368"/>
            <a:ext cx="1664208" cy="1325880"/>
          </a:xfrm>
          <a:prstGeom prst="rect">
            <a:avLst/>
          </a:prstGeom>
          <a:noFill/>
        </p:spPr>
        <p:txBody>
          <a:bodyPr wrap="square" anchor="t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Antofagasta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Casablanca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Chillan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Castro</a:t>
            </a:r>
          </a:p>
        </p:txBody>
      </p:sp>
      <p:sp>
        <p:nvSpPr>
          <p:cNvPr id="71" name="Card Cambios 2026"/>
          <p:cNvSpPr/>
          <p:nvPr/>
        </p:nvSpPr>
        <p:spPr>
          <a:xfrm>
            <a:off x="2374696" y="1417320"/>
            <a:ext cx="1664208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eader Cambios 2026"/>
          <p:cNvSpPr/>
          <p:nvPr/>
        </p:nvSpPr>
        <p:spPr>
          <a:xfrm>
            <a:off x="2374696" y="1417320"/>
            <a:ext cx="1664208" cy="329184"/>
          </a:xfrm>
          <a:prstGeom prst="rect">
            <a:avLst/>
          </a:prstGeom>
          <a:solidFill>
            <a:srgbClr val="C00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Cambios 2026</a:t>
            </a:r>
          </a:p>
        </p:txBody>
      </p:sp>
      <p:sp>
        <p:nvSpPr>
          <p:cNvPr id="73" name="Items Cambios 2026 1"/>
          <p:cNvSpPr txBox="1"/>
          <p:nvPr/>
        </p:nvSpPr>
        <p:spPr>
          <a:xfrm>
            <a:off x="2374696" y="1801368"/>
            <a:ext cx="1664208" cy="1325880"/>
          </a:xfrm>
          <a:prstGeom prst="rect">
            <a:avLst/>
          </a:prstGeom>
          <a:noFill/>
        </p:spPr>
        <p:txBody>
          <a:bodyPr wrap="square" anchor="t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AP Mall Plaza Oeste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AG Melipilla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AG Osorno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AG Chillan</a:t>
            </a:r>
          </a:p>
        </p:txBody>
      </p:sp>
      <p:sp>
        <p:nvSpPr>
          <p:cNvPr id="74" name="Card Renovados"/>
          <p:cNvSpPr/>
          <p:nvPr/>
        </p:nvSpPr>
        <p:spPr>
          <a:xfrm>
            <a:off x="4136745" y="1417320"/>
            <a:ext cx="1664208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Header Renovados"/>
          <p:cNvSpPr/>
          <p:nvPr/>
        </p:nvSpPr>
        <p:spPr>
          <a:xfrm>
            <a:off x="4136745" y="1417320"/>
            <a:ext cx="1664208" cy="329184"/>
          </a:xfrm>
          <a:prstGeom prst="rect">
            <a:avLst/>
          </a:prstGeom>
          <a:solidFill>
            <a:srgbClr val="C00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Renovados</a:t>
            </a:r>
          </a:p>
        </p:txBody>
      </p:sp>
      <p:sp>
        <p:nvSpPr>
          <p:cNvPr id="76" name="Items Renovados 1"/>
          <p:cNvSpPr txBox="1"/>
          <p:nvPr/>
        </p:nvSpPr>
        <p:spPr>
          <a:xfrm>
            <a:off x="4136745" y="1801368"/>
            <a:ext cx="1664208" cy="1325880"/>
          </a:xfrm>
          <a:prstGeom prst="rect">
            <a:avLst/>
          </a:prstGeom>
          <a:noFill/>
        </p:spPr>
        <p:txBody>
          <a:bodyPr wrap="square" anchor="t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Puente Alto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Maipu</a:t>
            </a:r>
          </a:p>
        </p:txBody>
      </p:sp>
      <p:sp>
        <p:nvSpPr>
          <p:cNvPr id="77" name="Card Patentes 2026"/>
          <p:cNvSpPr/>
          <p:nvPr/>
        </p:nvSpPr>
        <p:spPr>
          <a:xfrm>
            <a:off x="5898794" y="1417320"/>
            <a:ext cx="1664208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Header Patentes 2026"/>
          <p:cNvSpPr/>
          <p:nvPr/>
        </p:nvSpPr>
        <p:spPr>
          <a:xfrm>
            <a:off x="5898794" y="1417320"/>
            <a:ext cx="1664208" cy="329184"/>
          </a:xfrm>
          <a:prstGeom prst="rect">
            <a:avLst/>
          </a:prstGeom>
          <a:solidFill>
            <a:srgbClr val="C00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Patentes 2026</a:t>
            </a:r>
          </a:p>
        </p:txBody>
      </p:sp>
      <p:sp>
        <p:nvSpPr>
          <p:cNvPr id="79" name="Items Patentes 2026 1"/>
          <p:cNvSpPr txBox="1"/>
          <p:nvPr/>
        </p:nvSpPr>
        <p:spPr>
          <a:xfrm>
            <a:off x="5898794" y="1801368"/>
            <a:ext cx="1664208" cy="1325880"/>
          </a:xfrm>
          <a:prstGeom prst="rect">
            <a:avLst/>
          </a:prstGeom>
          <a:noFill/>
        </p:spPr>
        <p:txBody>
          <a:bodyPr wrap="square" anchor="t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AP P20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AP Talca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AP / AG Casablanca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AP / AG Parral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AG Curicó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Egakat</a:t>
            </a:r>
          </a:p>
        </p:txBody>
      </p:sp>
      <p:sp>
        <p:nvSpPr>
          <p:cNvPr id="80" name="Card Expansión 2027"/>
          <p:cNvSpPr/>
          <p:nvPr/>
        </p:nvSpPr>
        <p:spPr>
          <a:xfrm>
            <a:off x="612648" y="3310128"/>
            <a:ext cx="34290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Header Expansión 2027"/>
          <p:cNvSpPr/>
          <p:nvPr/>
        </p:nvSpPr>
        <p:spPr>
          <a:xfrm>
            <a:off x="612648" y="3310128"/>
            <a:ext cx="3429000" cy="329184"/>
          </a:xfrm>
          <a:prstGeom prst="rect">
            <a:avLst/>
          </a:prstGeom>
          <a:solidFill>
            <a:srgbClr val="C00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Expansión 2027</a:t>
            </a:r>
          </a:p>
        </p:txBody>
      </p:sp>
      <p:sp>
        <p:nvSpPr>
          <p:cNvPr id="82" name="Items Expansión 2027 1"/>
          <p:cNvSpPr txBox="1"/>
          <p:nvPr/>
        </p:nvSpPr>
        <p:spPr>
          <a:xfrm>
            <a:off x="612648" y="3694176"/>
            <a:ext cx="1714500" cy="640080"/>
          </a:xfrm>
          <a:prstGeom prst="rect">
            <a:avLst/>
          </a:prstGeom>
          <a:noFill/>
        </p:spPr>
        <p:txBody>
          <a:bodyPr wrap="square" anchor="t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Arica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Fontova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Rancagua</a:t>
            </a:r>
          </a:p>
        </p:txBody>
      </p:sp>
      <p:sp>
        <p:nvSpPr>
          <p:cNvPr id="83" name="Items Expansión 2027 2"/>
          <p:cNvSpPr txBox="1"/>
          <p:nvPr/>
        </p:nvSpPr>
        <p:spPr>
          <a:xfrm>
            <a:off x="2327148" y="3694176"/>
            <a:ext cx="1714500" cy="640080"/>
          </a:xfrm>
          <a:prstGeom prst="rect">
            <a:avLst/>
          </a:prstGeom>
          <a:noFill/>
        </p:spPr>
        <p:txBody>
          <a:bodyPr wrap="square" anchor="t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Mall Plaza Trébol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San Pedro de la Paz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Puerto Montt Alerce</a:t>
            </a:r>
          </a:p>
        </p:txBody>
      </p:sp>
      <p:sp>
        <p:nvSpPr>
          <p:cNvPr id="84" name="Card Cambios 2027"/>
          <p:cNvSpPr/>
          <p:nvPr/>
        </p:nvSpPr>
        <p:spPr>
          <a:xfrm>
            <a:off x="4133087" y="3310128"/>
            <a:ext cx="34290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Header Cambios 2027"/>
          <p:cNvSpPr/>
          <p:nvPr/>
        </p:nvSpPr>
        <p:spPr>
          <a:xfrm>
            <a:off x="4133087" y="3310128"/>
            <a:ext cx="3429000" cy="329184"/>
          </a:xfrm>
          <a:prstGeom prst="rect">
            <a:avLst/>
          </a:prstGeom>
          <a:solidFill>
            <a:srgbClr val="C00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Cambios 2027</a:t>
            </a:r>
          </a:p>
        </p:txBody>
      </p:sp>
      <p:sp>
        <p:nvSpPr>
          <p:cNvPr id="86" name="Items Cambios 2027 1"/>
          <p:cNvSpPr txBox="1"/>
          <p:nvPr/>
        </p:nvSpPr>
        <p:spPr>
          <a:xfrm>
            <a:off x="4133087" y="3694176"/>
            <a:ext cx="1714500" cy="640080"/>
          </a:xfrm>
          <a:prstGeom prst="rect">
            <a:avLst/>
          </a:prstGeom>
          <a:noFill/>
        </p:spPr>
        <p:txBody>
          <a:bodyPr wrap="square" anchor="t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AG Rancagua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AG Los Angeles</a:t>
            </a:r>
          </a:p>
        </p:txBody>
      </p:sp>
      <p:sp>
        <p:nvSpPr>
          <p:cNvPr id="87" name="Items Cambios 2027 2"/>
          <p:cNvSpPr txBox="1"/>
          <p:nvPr/>
        </p:nvSpPr>
        <p:spPr>
          <a:xfrm>
            <a:off x="5847588" y="3694176"/>
            <a:ext cx="1714500" cy="640080"/>
          </a:xfrm>
          <a:prstGeom prst="rect">
            <a:avLst/>
          </a:prstGeom>
          <a:noFill/>
        </p:spPr>
        <p:txBody>
          <a:bodyPr wrap="square" anchor="t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AG Los Andes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AG Vergara</a:t>
            </a:r>
          </a:p>
        </p:txBody>
      </p:sp>
      <p:sp>
        <p:nvSpPr>
          <p:cNvPr id="88" name="KPI Expansiones"/>
          <p:cNvSpPr/>
          <p:nvPr/>
        </p:nvSpPr>
        <p:spPr>
          <a:xfrm>
            <a:off x="7909560" y="1417320"/>
            <a:ext cx="173736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C0003F"/>
                </a:solidFill>
                <a:latin typeface="Arial"/>
              </a:rPr>
              <a:t>10</a:t>
            </a:r>
          </a:p>
        </p:txBody>
      </p:sp>
      <p:sp>
        <p:nvSpPr>
          <p:cNvPr id="89" name="KPI label"/>
          <p:cNvSpPr txBox="1"/>
          <p:nvPr/>
        </p:nvSpPr>
        <p:spPr>
          <a:xfrm>
            <a:off x="7909560" y="1947672"/>
            <a:ext cx="1737360" cy="457200"/>
          </a:xfrm>
          <a:prstGeom prst="rect">
            <a:avLst/>
          </a:prstGeom>
          <a:noFill/>
        </p:spPr>
        <p:txBody>
          <a:bodyPr wrap="square" anchor="t" lIns="137160" rIns="13716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Expansiones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2026 + 2027</a:t>
            </a:r>
          </a:p>
        </p:txBody>
      </p:sp>
      <p:sp>
        <p:nvSpPr>
          <p:cNvPr id="90" name="KPI Cambios"/>
          <p:cNvSpPr/>
          <p:nvPr/>
        </p:nvSpPr>
        <p:spPr>
          <a:xfrm>
            <a:off x="9784080" y="1417320"/>
            <a:ext cx="173736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C0003F"/>
                </a:solidFill>
                <a:latin typeface="Arial"/>
              </a:rPr>
              <a:t>8</a:t>
            </a:r>
          </a:p>
        </p:txBody>
      </p:sp>
      <p:sp>
        <p:nvSpPr>
          <p:cNvPr id="91" name="KPI label"/>
          <p:cNvSpPr txBox="1"/>
          <p:nvPr/>
        </p:nvSpPr>
        <p:spPr>
          <a:xfrm>
            <a:off x="9784080" y="1947672"/>
            <a:ext cx="1737360" cy="457200"/>
          </a:xfrm>
          <a:prstGeom prst="rect">
            <a:avLst/>
          </a:prstGeom>
          <a:noFill/>
        </p:spPr>
        <p:txBody>
          <a:bodyPr wrap="square" anchor="t" lIns="137160" rIns="13716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Cambios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2026 + 2027</a:t>
            </a:r>
          </a:p>
        </p:txBody>
      </p:sp>
      <p:sp>
        <p:nvSpPr>
          <p:cNvPr id="92" name="KPI Contratos"/>
          <p:cNvSpPr/>
          <p:nvPr/>
        </p:nvSpPr>
        <p:spPr>
          <a:xfrm>
            <a:off x="7909560" y="2514600"/>
            <a:ext cx="173736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C0003F"/>
                </a:solidFill>
                <a:latin typeface="Arial"/>
              </a:rPr>
              <a:t>2</a:t>
            </a:r>
          </a:p>
        </p:txBody>
      </p:sp>
      <p:sp>
        <p:nvSpPr>
          <p:cNvPr id="93" name="KPI label"/>
          <p:cNvSpPr txBox="1"/>
          <p:nvPr/>
        </p:nvSpPr>
        <p:spPr>
          <a:xfrm>
            <a:off x="7909560" y="3044952"/>
            <a:ext cx="1737360" cy="457200"/>
          </a:xfrm>
          <a:prstGeom prst="rect">
            <a:avLst/>
          </a:prstGeom>
          <a:noFill/>
        </p:spPr>
        <p:txBody>
          <a:bodyPr wrap="square" anchor="t" lIns="137160" rIns="13716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Contratos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renovados</a:t>
            </a:r>
          </a:p>
        </p:txBody>
      </p:sp>
      <p:sp>
        <p:nvSpPr>
          <p:cNvPr id="94" name="KPI Patentes"/>
          <p:cNvSpPr/>
          <p:nvPr/>
        </p:nvSpPr>
        <p:spPr>
          <a:xfrm>
            <a:off x="9784080" y="2514600"/>
            <a:ext cx="173736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C0003F"/>
                </a:solidFill>
                <a:latin typeface="Arial"/>
              </a:rPr>
              <a:t>6</a:t>
            </a:r>
          </a:p>
        </p:txBody>
      </p:sp>
      <p:sp>
        <p:nvSpPr>
          <p:cNvPr id="95" name="KPI label"/>
          <p:cNvSpPr txBox="1"/>
          <p:nvPr/>
        </p:nvSpPr>
        <p:spPr>
          <a:xfrm>
            <a:off x="9784080" y="3044952"/>
            <a:ext cx="1737360" cy="457200"/>
          </a:xfrm>
          <a:prstGeom prst="rect">
            <a:avLst/>
          </a:prstGeom>
          <a:noFill/>
        </p:spPr>
        <p:txBody>
          <a:bodyPr wrap="square" anchor="t" lIns="137160" rIns="13716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Patentes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9735700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161</Words>
  <Application>Microsoft Office PowerPoint</Application>
  <PresentationFormat>Panorámica</PresentationFormat>
  <Paragraphs>83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Andres Strube Ellenberg</dc:creator>
  <cp:lastModifiedBy>Matias Andres Strube Ellenberg</cp:lastModifiedBy>
  <cp:revision>1</cp:revision>
  <dcterms:created xsi:type="dcterms:W3CDTF">2026-10-07T13:27:29Z</dcterms:created>
  <dcterms:modified xsi:type="dcterms:W3CDTF">2026-10-07T15:42:48Z</dcterms:modified>
</cp:coreProperties>
</file>